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9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62" r:id="rId3"/>
    <p:sldId id="259" r:id="rId4"/>
    <p:sldId id="260" r:id="rId6"/>
    <p:sldId id="261" r:id="rId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业管分开填</a:t>
            </a:r>
            <a:br>
              <a:rPr lang="zh-CN" altLang="en-US" dirty="0"/>
            </a:br>
            <a:br>
              <a:rPr lang="zh-CN" altLang="en-US" dirty="0"/>
            </a:br>
            <a:r>
              <a:rPr lang="en-US" altLang="zh-CN" dirty="0"/>
              <a:t>ctd</a:t>
            </a:r>
            <a:r>
              <a:rPr lang="zh-CN" altLang="en-US" dirty="0"/>
              <a:t>的节奏系统使用的</a:t>
            </a:r>
            <a:r>
              <a:rPr lang="zh-CN" altLang="en-US" dirty="0"/>
              <a:t>节奏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消保和</a:t>
            </a:r>
            <a:r>
              <a:rPr lang="en-US" altLang="zh-CN" dirty="0"/>
              <a:t>pa</a:t>
            </a:r>
            <a:r>
              <a:rPr lang="zh-CN" altLang="en-US" dirty="0"/>
              <a:t>的</a:t>
            </a:r>
            <a:r>
              <a:rPr lang="zh-CN" altLang="en-US" dirty="0"/>
              <a:t>节奏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周二</a:t>
            </a:r>
            <a:r>
              <a:rPr lang="zh-CN" altLang="en-US" dirty="0"/>
              <a:t>下午</a:t>
            </a:r>
            <a:r>
              <a:rPr lang="en-US" altLang="zh-CN" dirty="0"/>
              <a:t>：ian cooker linhan </a:t>
            </a:r>
            <a:r>
              <a:rPr lang="en-US" altLang="zh-CN" dirty="0"/>
              <a:t>chrissy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本周</a:t>
            </a:r>
            <a:r>
              <a:rPr lang="zh-CN" altLang="en-US" dirty="0"/>
              <a:t>业管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webp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715" y="590550"/>
            <a:ext cx="3297600" cy="11409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15" y="1313180"/>
            <a:ext cx="3297600" cy="168441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15" y="2129155"/>
            <a:ext cx="3297600" cy="16471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15" y="2839085"/>
            <a:ext cx="3297600" cy="142370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rcRect b="37667"/>
          <a:stretch>
            <a:fillRect/>
          </a:stretch>
        </p:blipFill>
        <p:spPr>
          <a:xfrm>
            <a:off x="132715" y="3432810"/>
            <a:ext cx="3297600" cy="143784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rcRect b="20302"/>
          <a:stretch>
            <a:fillRect/>
          </a:stretch>
        </p:blipFill>
        <p:spPr>
          <a:xfrm>
            <a:off x="132715" y="4062095"/>
            <a:ext cx="3297555" cy="107188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0" y="0"/>
            <a:ext cx="9144000" cy="599440"/>
          </a:xfrm>
          <a:prstGeom prst="rect">
            <a:avLst/>
          </a:prstGeom>
          <a:solidFill>
            <a:srgbClr val="1E3A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1"/>
          <p:cNvSpPr/>
          <p:nvPr/>
        </p:nvSpPr>
        <p:spPr>
          <a:xfrm>
            <a:off x="381000" y="95250"/>
            <a:ext cx="8549640" cy="504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当前机制运行痛点</a:t>
            </a:r>
            <a:endParaRPr lang="en-US" sz="2800" dirty="0"/>
          </a:p>
        </p:txBody>
      </p:sp>
      <p:sp>
        <p:nvSpPr>
          <p:cNvPr id="22" name="Text 2"/>
          <p:cNvSpPr/>
          <p:nvPr/>
        </p:nvSpPr>
        <p:spPr>
          <a:xfrm>
            <a:off x="3642360" y="652780"/>
            <a:ext cx="5288280" cy="1296035"/>
          </a:xfrm>
          <a:prstGeom prst="rect">
            <a:avLst/>
          </a:prstGeom>
          <a:solidFill>
            <a:srgbClr val="FEF2F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3" name="Shape 3"/>
          <p:cNvSpPr/>
          <p:nvPr/>
        </p:nvSpPr>
        <p:spPr>
          <a:xfrm>
            <a:off x="3635375" y="687705"/>
            <a:ext cx="0" cy="1289685"/>
          </a:xfrm>
          <a:prstGeom prst="line">
            <a:avLst/>
          </a:prstGeom>
          <a:noFill/>
          <a:ln w="76200">
            <a:solidFill>
              <a:srgbClr val="DC2626"/>
            </a:solidFill>
            <a:prstDash val="solid"/>
          </a:ln>
        </p:spPr>
      </p:sp>
      <p:sp>
        <p:nvSpPr>
          <p:cNvPr id="24" name="Text 4"/>
          <p:cNvSpPr/>
          <p:nvPr/>
        </p:nvSpPr>
        <p:spPr>
          <a:xfrm>
            <a:off x="3896360" y="735965"/>
            <a:ext cx="3773170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🔴 痛点</a:t>
            </a:r>
            <a:endParaRPr lang="en-US" sz="1200" b="1" dirty="0">
              <a:solidFill>
                <a:srgbClr val="DC2626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5" name="Text 6"/>
          <p:cNvSpPr/>
          <p:nvPr/>
        </p:nvSpPr>
        <p:spPr>
          <a:xfrm>
            <a:off x="3886200" y="986155"/>
            <a:ext cx="3245485" cy="885825"/>
          </a:xfrm>
          <a:prstGeom prst="roundRect">
            <a:avLst>
              <a:gd name="adj" fmla="val 9119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6" name="Shape 7"/>
          <p:cNvSpPr/>
          <p:nvPr/>
        </p:nvSpPr>
        <p:spPr>
          <a:xfrm>
            <a:off x="3886200" y="1010285"/>
            <a:ext cx="3245485" cy="635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27" name="Text 8"/>
          <p:cNvSpPr/>
          <p:nvPr/>
        </p:nvSpPr>
        <p:spPr>
          <a:xfrm>
            <a:off x="4099461" y="1082209"/>
            <a:ext cx="3562552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员工侧</a:t>
            </a:r>
            <a:endParaRPr lang="en-US" sz="1200" b="1" dirty="0">
              <a:solidFill>
                <a:srgbClr val="1E3A8A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8" name="Text 9"/>
          <p:cNvSpPr/>
          <p:nvPr/>
        </p:nvSpPr>
        <p:spPr>
          <a:xfrm>
            <a:off x="4076700" y="1308735"/>
            <a:ext cx="2638425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填写繁琐，上传流程复杂，用户体验差。</a:t>
            </a:r>
            <a:endParaRPr lang="en-US" sz="1000" dirty="0">
              <a:solidFill>
                <a:srgbClr val="47556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2200" y="2138680"/>
            <a:ext cx="5298440" cy="2740660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2033905" y="687705"/>
            <a:ext cx="8013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>
                <a:solidFill>
                  <a:schemeClr val="accent1"/>
                </a:solidFill>
              </a:rPr>
              <a:t>第一步</a:t>
            </a:r>
            <a:endParaRPr lang="zh-CN" altLang="en-US" sz="1200" b="1">
              <a:solidFill>
                <a:schemeClr val="accent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033905" y="1322705"/>
            <a:ext cx="8013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>
                <a:solidFill>
                  <a:schemeClr val="accent1"/>
                </a:solidFill>
              </a:rPr>
              <a:t>第二步</a:t>
            </a:r>
            <a:endParaRPr lang="zh-CN" altLang="en-US" sz="1200" b="1">
              <a:solidFill>
                <a:schemeClr val="accent1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033905" y="2094230"/>
            <a:ext cx="8013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>
                <a:solidFill>
                  <a:schemeClr val="accent1"/>
                </a:solidFill>
              </a:rPr>
              <a:t>第三步</a:t>
            </a:r>
            <a:endParaRPr lang="zh-CN" altLang="en-US" sz="1200" b="1">
              <a:solidFill>
                <a:schemeClr val="accent1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033905" y="2814955"/>
            <a:ext cx="8013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>
                <a:solidFill>
                  <a:schemeClr val="accent1"/>
                </a:solidFill>
              </a:rPr>
              <a:t>第四步</a:t>
            </a:r>
            <a:endParaRPr lang="zh-CN" altLang="en-US" sz="1200" b="1">
              <a:solidFill>
                <a:schemeClr val="accent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033905" y="3438525"/>
            <a:ext cx="8013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>
                <a:solidFill>
                  <a:schemeClr val="accent1"/>
                </a:solidFill>
              </a:rPr>
              <a:t>第五步</a:t>
            </a:r>
            <a:endParaRPr lang="zh-CN" altLang="en-US" sz="1200" b="1">
              <a:solidFill>
                <a:schemeClr val="accent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033905" y="4086225"/>
            <a:ext cx="8013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>
                <a:solidFill>
                  <a:schemeClr val="accent1"/>
                </a:solidFill>
              </a:rPr>
              <a:t>第六步</a:t>
            </a:r>
            <a:endParaRPr lang="zh-CN" altLang="en-US" sz="1200" b="1">
              <a:solidFill>
                <a:schemeClr val="accent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860540" y="3714115"/>
            <a:ext cx="8013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>
                <a:solidFill>
                  <a:schemeClr val="accent1"/>
                </a:solidFill>
              </a:rPr>
              <a:t>第七步</a:t>
            </a:r>
            <a:endParaRPr lang="zh-CN" altLang="en-US" sz="1200"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04140" y="770890"/>
            <a:ext cx="5111750" cy="1296035"/>
          </a:xfrm>
          <a:prstGeom prst="rect">
            <a:avLst/>
          </a:prstGeom>
          <a:solidFill>
            <a:srgbClr val="FEF2F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9" name="Text 10"/>
          <p:cNvSpPr/>
          <p:nvPr/>
        </p:nvSpPr>
        <p:spPr>
          <a:xfrm>
            <a:off x="358140" y="1103630"/>
            <a:ext cx="4726305" cy="885825"/>
          </a:xfrm>
          <a:prstGeom prst="roundRect">
            <a:avLst>
              <a:gd name="adj" fmla="val 9119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6" name="Text 12"/>
          <p:cNvSpPr/>
          <p:nvPr/>
        </p:nvSpPr>
        <p:spPr>
          <a:xfrm>
            <a:off x="635536" y="1199684"/>
            <a:ext cx="3562552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业管侧</a:t>
            </a:r>
            <a:endParaRPr lang="en-US" sz="1200" b="1" dirty="0">
              <a:solidFill>
                <a:srgbClr val="1E3A8A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7" name="Text 13"/>
          <p:cNvSpPr/>
          <p:nvPr/>
        </p:nvSpPr>
        <p:spPr>
          <a:xfrm>
            <a:off x="521970" y="1426210"/>
            <a:ext cx="4514850" cy="543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algn="l" fontAlgn="auto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数据处理流程极度耗时</a:t>
            </a:r>
            <a:r>
              <a:rPr lang="zh-CN" altLang="en-US" sz="1000" dirty="0">
                <a:solidFill>
                  <a:srgbClr val="475569"/>
                </a:solidFill>
                <a:latin typeface="Arial" panose="020B0604020202090204" pitchFamily="34" charset="0"/>
                <a:ea typeface="宋体" charset="0"/>
                <a:cs typeface="Arial" panose="020B0604020202090204" pitchFamily="34" charset="-120"/>
              </a:rPr>
              <a:t>，</a:t>
            </a:r>
            <a:r>
              <a:rPr lang="zh-CN" altLang="en-US" sz="10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每月需重复相同清洗步骤，纠错成本高：需人工反复核</a:t>
            </a:r>
            <a:endParaRPr lang="zh-CN" altLang="en-US" sz="1000" dirty="0">
              <a:solidFill>
                <a:srgbClr val="47556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indent="0" algn="l" fontAlgn="auto">
              <a:lnSpc>
                <a:spcPct val="140000"/>
              </a:lnSpc>
              <a:buNone/>
            </a:pPr>
            <a:r>
              <a:rPr lang="en-US" altLang="zh-CN" sz="900" i="1" dirty="0">
                <a:solidFill>
                  <a:srgbClr val="7F1D1D"/>
                </a:solidFill>
                <a:latin typeface="Arial Italic" panose="020B0604020202090204" charset="0"/>
                <a:ea typeface="Arial" panose="020B0604020202090204" pitchFamily="34" charset="-122"/>
                <a:cs typeface="Arial Italic" panose="020B0604020202090204" charset="0"/>
                <a:sym typeface="+mn-ea"/>
              </a:rPr>
              <a:t>***</a:t>
            </a:r>
            <a:r>
              <a:rPr lang="zh-CN" altLang="en-US" sz="900" i="1" dirty="0">
                <a:solidFill>
                  <a:srgbClr val="7F1D1D"/>
                </a:solidFill>
                <a:latin typeface="Arial Italic" panose="020B0604020202090204" charset="0"/>
                <a:ea typeface="Arial" panose="020B0604020202090204" pitchFamily="34" charset="-122"/>
                <a:cs typeface="Arial Italic" panose="020B0604020202090204" charset="0"/>
                <a:sym typeface="+mn-ea"/>
              </a:rPr>
              <a:t>投入情况</a:t>
            </a:r>
            <a:r>
              <a:rPr lang="en-US" sz="900" i="1" dirty="0">
                <a:solidFill>
                  <a:srgbClr val="7F1D1D"/>
                </a:solidFill>
                <a:latin typeface="Arial Italic" panose="020B0604020202090204" charset="0"/>
                <a:ea typeface="Arial" panose="020B0604020202090204" pitchFamily="34" charset="-122"/>
                <a:cs typeface="Arial Italic" panose="020B0604020202090204" charset="0"/>
                <a:sym typeface="+mn-ea"/>
              </a:rPr>
              <a:t>：</a:t>
            </a:r>
            <a:r>
              <a:rPr lang="zh-CN" altLang="en-US" sz="900" i="1" dirty="0">
                <a:solidFill>
                  <a:srgbClr val="7F1D1D"/>
                </a:solidFill>
                <a:latin typeface="Arial Italic" panose="020B0604020202090204" charset="0"/>
                <a:ea typeface="Arial" panose="020B0604020202090204" pitchFamily="34" charset="-122"/>
                <a:cs typeface="Arial Italic" panose="020B0604020202090204" charset="0"/>
                <a:sym typeface="+mn-ea"/>
              </a:rPr>
              <a:t>业管侧</a:t>
            </a:r>
            <a:r>
              <a:rPr lang="en-US" sz="900" i="1" dirty="0">
                <a:solidFill>
                  <a:srgbClr val="7F1D1D"/>
                </a:solidFill>
                <a:latin typeface="Arial Italic" panose="020B0604020202090204" charset="0"/>
                <a:ea typeface="Arial" panose="020B0604020202090204" pitchFamily="34" charset="-122"/>
                <a:cs typeface="Arial Italic" panose="020B0604020202090204" charset="0"/>
                <a:sym typeface="+mn-ea"/>
              </a:rPr>
              <a:t>每月需投入 2.5 人力，耗时 3-5 天。</a:t>
            </a:r>
            <a:endParaRPr lang="en-US" sz="900" i="1" dirty="0">
              <a:solidFill>
                <a:srgbClr val="7F1D1D"/>
              </a:solidFill>
              <a:latin typeface="Arial Italic" panose="020B0604020202090204" charset="0"/>
              <a:ea typeface="Arial" panose="020B0604020202090204" pitchFamily="34" charset="-122"/>
              <a:cs typeface="Arial Italic" panose="020B0604020202090204" charset="0"/>
              <a:sym typeface="+mn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7155" y="777240"/>
            <a:ext cx="0" cy="1289685"/>
          </a:xfrm>
          <a:prstGeom prst="line">
            <a:avLst/>
          </a:prstGeom>
          <a:noFill/>
          <a:ln w="762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5950" y="827405"/>
            <a:ext cx="1220470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🔴 痛点</a:t>
            </a:r>
            <a:endParaRPr lang="en-US" sz="1200" b="1" dirty="0">
              <a:solidFill>
                <a:srgbClr val="DC2626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58140" y="1118235"/>
            <a:ext cx="4726305" cy="635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 t="12083" b="2707"/>
          <a:stretch>
            <a:fillRect/>
          </a:stretch>
        </p:blipFill>
        <p:spPr>
          <a:xfrm>
            <a:off x="1664335" y="3575050"/>
            <a:ext cx="1132840" cy="1250315"/>
          </a:xfrm>
          <a:prstGeom prst="rect">
            <a:avLst/>
          </a:prstGeom>
        </p:spPr>
      </p:pic>
      <p:pic>
        <p:nvPicPr>
          <p:cNvPr id="18" name="图片 17"/>
          <p:cNvPicPr/>
          <p:nvPr/>
        </p:nvPicPr>
        <p:blipFill>
          <a:blip r:embed="rId2"/>
          <a:srcRect l="21506" b="8701"/>
          <a:stretch>
            <a:fillRect/>
          </a:stretch>
        </p:blipFill>
        <p:spPr>
          <a:xfrm>
            <a:off x="147955" y="3575050"/>
            <a:ext cx="1516380" cy="124968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r="11093"/>
          <a:stretch>
            <a:fillRect/>
          </a:stretch>
        </p:blipFill>
        <p:spPr>
          <a:xfrm>
            <a:off x="2868930" y="3575050"/>
            <a:ext cx="1984375" cy="4038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8295" y="4034155"/>
            <a:ext cx="1946910" cy="85725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rcRect t="23429" r="52805" b="416"/>
          <a:stretch>
            <a:fillRect/>
          </a:stretch>
        </p:blipFill>
        <p:spPr>
          <a:xfrm flipV="1">
            <a:off x="4898390" y="3583305"/>
            <a:ext cx="1450975" cy="117030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2870" y="3583305"/>
            <a:ext cx="877570" cy="40386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0080" y="3583305"/>
            <a:ext cx="845185" cy="124968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5270" y="3583305"/>
            <a:ext cx="832485" cy="1181735"/>
          </a:xfrm>
          <a:prstGeom prst="rect">
            <a:avLst/>
          </a:prstGeom>
        </p:spPr>
      </p:pic>
      <p:sp>
        <p:nvSpPr>
          <p:cNvPr id="28" name="五边形 27"/>
          <p:cNvSpPr/>
          <p:nvPr/>
        </p:nvSpPr>
        <p:spPr>
          <a:xfrm>
            <a:off x="135255" y="2686050"/>
            <a:ext cx="2657475" cy="294005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收集数据</a:t>
            </a:r>
            <a:r>
              <a:rPr lang="en-US" altLang="zh-CN" sz="1200"/>
              <a:t>（</a:t>
            </a:r>
            <a:r>
              <a:rPr lang="zh-CN" altLang="en-US" sz="1200"/>
              <a:t>完整性</a:t>
            </a:r>
            <a:r>
              <a:rPr lang="en-US" altLang="zh-CN" sz="1200"/>
              <a:t>）</a:t>
            </a:r>
            <a:endParaRPr lang="en-US" altLang="zh-CN" sz="1200"/>
          </a:p>
        </p:txBody>
      </p:sp>
      <p:sp>
        <p:nvSpPr>
          <p:cNvPr id="29" name="文本框 28"/>
          <p:cNvSpPr txBox="1"/>
          <p:nvPr/>
        </p:nvSpPr>
        <p:spPr>
          <a:xfrm>
            <a:off x="97155" y="3014345"/>
            <a:ext cx="2638425" cy="42354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20000"/>
              </a:lnSpc>
            </a:pPr>
            <a:r>
              <a:rPr 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检查三个中心60+同事是否完整上传工时，</a:t>
            </a:r>
            <a:r>
              <a:rPr lang="zh-CN" alt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通过</a:t>
            </a:r>
            <a:r>
              <a:rPr 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python预设程序+智能文档检查</a:t>
            </a:r>
            <a:endParaRPr lang="en-US" sz="900" dirty="0">
              <a:solidFill>
                <a:srgbClr val="47556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0" name="燕尾形 29"/>
          <p:cNvSpPr/>
          <p:nvPr/>
        </p:nvSpPr>
        <p:spPr>
          <a:xfrm>
            <a:off x="2743835" y="2686050"/>
            <a:ext cx="3604895" cy="294005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数据清洗（准确性）</a:t>
            </a:r>
            <a:endParaRPr lang="en-US" altLang="zh-CN"/>
          </a:p>
        </p:txBody>
      </p:sp>
      <p:sp>
        <p:nvSpPr>
          <p:cNvPr id="31" name="文本框 30"/>
          <p:cNvSpPr txBox="1"/>
          <p:nvPr/>
        </p:nvSpPr>
        <p:spPr>
          <a:xfrm>
            <a:off x="2822575" y="2982595"/>
            <a:ext cx="3502660" cy="42354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20000"/>
              </a:lnSpc>
            </a:pPr>
            <a:r>
              <a:rPr lang="zh-CN" alt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检查是否所有的必填字段是否完整；所有填写的字段是否都统一以及符合规范；人工修正不规范数据；剔除异常值</a:t>
            </a:r>
            <a:endParaRPr lang="zh-CN" altLang="en-US" sz="900" dirty="0">
              <a:solidFill>
                <a:srgbClr val="47556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2" name="燕尾形 31"/>
          <p:cNvSpPr/>
          <p:nvPr/>
        </p:nvSpPr>
        <p:spPr>
          <a:xfrm>
            <a:off x="6311900" y="2686050"/>
            <a:ext cx="1563370" cy="294005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数据</a:t>
            </a:r>
            <a:r>
              <a:rPr lang="zh-CN" altLang="en-US" sz="1200"/>
              <a:t>统计</a:t>
            </a:r>
            <a:endParaRPr lang="zh-CN" altLang="en-US" sz="1200"/>
          </a:p>
        </p:txBody>
      </p:sp>
      <p:sp>
        <p:nvSpPr>
          <p:cNvPr id="37" name="文本框 36"/>
          <p:cNvSpPr txBox="1"/>
          <p:nvPr/>
        </p:nvSpPr>
        <p:spPr>
          <a:xfrm>
            <a:off x="6359525" y="2987040"/>
            <a:ext cx="1517015" cy="58928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20000"/>
              </a:lnSpc>
            </a:pPr>
            <a:r>
              <a:rPr lang="zh-CN" alt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日常维护</a:t>
            </a:r>
            <a:r>
              <a:rPr lang="en-US" altLang="zh-CN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r>
              <a:rPr lang="zh-CN" alt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张基础信息表</a:t>
            </a:r>
            <a:r>
              <a:rPr lang="en-US" altLang="zh-CN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+10</a:t>
            </a:r>
            <a:r>
              <a:rPr lang="zh-CN" alt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余张计算</a:t>
            </a:r>
            <a:r>
              <a:rPr lang="zh-CN" alt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分析表，需保持多表勾稽关系</a:t>
            </a:r>
            <a:endParaRPr lang="zh-CN" altLang="en-US" sz="900" dirty="0">
              <a:solidFill>
                <a:srgbClr val="47556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8" name="燕尾形 37"/>
          <p:cNvSpPr/>
          <p:nvPr/>
        </p:nvSpPr>
        <p:spPr>
          <a:xfrm>
            <a:off x="7785100" y="2686050"/>
            <a:ext cx="1146175" cy="294005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数据</a:t>
            </a:r>
            <a:r>
              <a:rPr lang="zh-CN" altLang="en-US" sz="1200"/>
              <a:t>看板</a:t>
            </a:r>
            <a:endParaRPr lang="zh-CN" altLang="en-US" sz="1200"/>
          </a:p>
        </p:txBody>
      </p:sp>
      <p:sp>
        <p:nvSpPr>
          <p:cNvPr id="40" name="文本框 39"/>
          <p:cNvSpPr txBox="1"/>
          <p:nvPr/>
        </p:nvSpPr>
        <p:spPr>
          <a:xfrm>
            <a:off x="253365" y="4836160"/>
            <a:ext cx="12204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/>
              <a:t>底表拼接</a:t>
            </a:r>
            <a:endParaRPr lang="zh-CN" altLang="en-US" sz="800"/>
          </a:p>
        </p:txBody>
      </p:sp>
      <p:sp>
        <p:nvSpPr>
          <p:cNvPr id="41" name="文本框 40"/>
          <p:cNvSpPr txBox="1"/>
          <p:nvPr/>
        </p:nvSpPr>
        <p:spPr>
          <a:xfrm>
            <a:off x="1748790" y="4836160"/>
            <a:ext cx="12204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/>
              <a:t>检查工时</a:t>
            </a:r>
            <a:r>
              <a:rPr lang="zh-CN" altLang="en-US" sz="800"/>
              <a:t>上传情况</a:t>
            </a:r>
            <a:endParaRPr lang="zh-CN" altLang="en-US" sz="800"/>
          </a:p>
        </p:txBody>
      </p:sp>
      <p:sp>
        <p:nvSpPr>
          <p:cNvPr id="42" name="文本框 41"/>
          <p:cNvSpPr txBox="1"/>
          <p:nvPr/>
        </p:nvSpPr>
        <p:spPr>
          <a:xfrm>
            <a:off x="3157220" y="4836160"/>
            <a:ext cx="12204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/>
              <a:t>字段缺失</a:t>
            </a:r>
            <a:r>
              <a:rPr lang="en-US" altLang="zh-CN" sz="800"/>
              <a:t>、</a:t>
            </a:r>
            <a:r>
              <a:rPr lang="zh-CN" altLang="en-US" sz="800"/>
              <a:t>标签不</a:t>
            </a:r>
            <a:r>
              <a:rPr lang="zh-CN" altLang="en-US" sz="800"/>
              <a:t>统一</a:t>
            </a:r>
            <a:endParaRPr lang="zh-CN" altLang="en-US" sz="800"/>
          </a:p>
        </p:txBody>
      </p:sp>
      <p:sp>
        <p:nvSpPr>
          <p:cNvPr id="43" name="文本框 42"/>
          <p:cNvSpPr txBox="1"/>
          <p:nvPr/>
        </p:nvSpPr>
        <p:spPr>
          <a:xfrm>
            <a:off x="5091430" y="4836160"/>
            <a:ext cx="12204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/>
              <a:t>字段填写</a:t>
            </a:r>
            <a:r>
              <a:rPr lang="zh-CN" altLang="en-US" sz="800"/>
              <a:t>不符合规范</a:t>
            </a:r>
            <a:endParaRPr lang="zh-CN" altLang="en-US" sz="800"/>
          </a:p>
        </p:txBody>
      </p:sp>
      <p:sp>
        <p:nvSpPr>
          <p:cNvPr id="44" name="文本框 43"/>
          <p:cNvSpPr txBox="1"/>
          <p:nvPr/>
        </p:nvSpPr>
        <p:spPr>
          <a:xfrm>
            <a:off x="6588125" y="4836160"/>
            <a:ext cx="12204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/>
              <a:t>统计分析</a:t>
            </a:r>
            <a:r>
              <a:rPr lang="zh-CN" altLang="en-US" sz="800"/>
              <a:t>表格</a:t>
            </a:r>
            <a:endParaRPr lang="zh-CN" altLang="en-US" sz="800"/>
          </a:p>
        </p:txBody>
      </p:sp>
      <p:sp>
        <p:nvSpPr>
          <p:cNvPr id="45" name="文本框 44"/>
          <p:cNvSpPr txBox="1"/>
          <p:nvPr/>
        </p:nvSpPr>
        <p:spPr>
          <a:xfrm>
            <a:off x="7808595" y="4836160"/>
            <a:ext cx="12204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/>
              <a:t>数据源检查</a:t>
            </a:r>
            <a:endParaRPr lang="zh-CN" altLang="en-US" sz="800"/>
          </a:p>
        </p:txBody>
      </p:sp>
      <p:sp>
        <p:nvSpPr>
          <p:cNvPr id="39" name="文本框 38"/>
          <p:cNvSpPr txBox="1"/>
          <p:nvPr/>
        </p:nvSpPr>
        <p:spPr>
          <a:xfrm>
            <a:off x="7785100" y="3021330"/>
            <a:ext cx="1210310" cy="42354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20000"/>
              </a:lnSpc>
            </a:pPr>
            <a:r>
              <a:rPr lang="zh-CN" alt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核对</a:t>
            </a:r>
            <a:r>
              <a:rPr lang="en-US" altLang="zh-CN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25+</a:t>
            </a:r>
            <a:r>
              <a:rPr lang="zh-CN" alt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数据看板，数据源准确性</a:t>
            </a:r>
            <a:endParaRPr lang="zh-CN" altLang="en-US" sz="900" dirty="0">
              <a:solidFill>
                <a:srgbClr val="47556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04850" y="2358390"/>
            <a:ext cx="10439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流程一</a:t>
            </a:r>
            <a:endParaRPr lang="zh-CN" altLang="en-US" sz="1200"/>
          </a:p>
        </p:txBody>
      </p:sp>
      <p:sp>
        <p:nvSpPr>
          <p:cNvPr id="47" name="文本框 46"/>
          <p:cNvSpPr txBox="1"/>
          <p:nvPr/>
        </p:nvSpPr>
        <p:spPr>
          <a:xfrm>
            <a:off x="3854450" y="2358390"/>
            <a:ext cx="10439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流程</a:t>
            </a:r>
            <a:r>
              <a:rPr lang="zh-CN" altLang="en-US" sz="1200"/>
              <a:t>二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88125" y="2361565"/>
            <a:ext cx="10439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流程</a:t>
            </a:r>
            <a:r>
              <a:rPr lang="zh-CN" altLang="en-US" sz="1200"/>
              <a:t>三</a:t>
            </a:r>
            <a:endParaRPr lang="zh-CN" altLang="en-US" sz="1200"/>
          </a:p>
        </p:txBody>
      </p:sp>
      <p:sp>
        <p:nvSpPr>
          <p:cNvPr id="49" name="文本框 48"/>
          <p:cNvSpPr txBox="1"/>
          <p:nvPr/>
        </p:nvSpPr>
        <p:spPr>
          <a:xfrm>
            <a:off x="7835265" y="2364740"/>
            <a:ext cx="10439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流程</a:t>
            </a:r>
            <a:r>
              <a:rPr lang="zh-CN" altLang="en-US" sz="1200"/>
              <a:t>四</a:t>
            </a:r>
            <a:endParaRPr lang="zh-CN" altLang="en-US" sz="1200"/>
          </a:p>
        </p:txBody>
      </p:sp>
      <p:sp>
        <p:nvSpPr>
          <p:cNvPr id="7" name="Text 0"/>
          <p:cNvSpPr/>
          <p:nvPr/>
        </p:nvSpPr>
        <p:spPr>
          <a:xfrm>
            <a:off x="0" y="0"/>
            <a:ext cx="9144000" cy="599440"/>
          </a:xfrm>
          <a:prstGeom prst="rect">
            <a:avLst/>
          </a:prstGeom>
          <a:solidFill>
            <a:srgbClr val="1E3A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"/>
          <p:cNvSpPr/>
          <p:nvPr/>
        </p:nvSpPr>
        <p:spPr>
          <a:xfrm>
            <a:off x="381000" y="95250"/>
            <a:ext cx="8549640" cy="504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当前机制运行痛点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762" y="1859012"/>
            <a:ext cx="3808476" cy="742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系统化解决方案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456148" y="2855863"/>
            <a:ext cx="4231556" cy="428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3C5F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以 CTD 为试点系统化能力探索</a:t>
            </a:r>
            <a:endParaRPr lang="en-US" sz="2000" dirty="0">
              <a:solidFill>
                <a:srgbClr val="93C5FD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ctr">
              <a:buNone/>
            </a:pPr>
            <a:r>
              <a:rPr lang="en-US" altLang="zh-CN" sz="2000" dirty="0">
                <a:solidFill>
                  <a:srgbClr val="93C5F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</a:t>
            </a:r>
            <a:r>
              <a:rPr lang="zh-CN" altLang="en-US" sz="2000" dirty="0">
                <a:solidFill>
                  <a:srgbClr val="93C5F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系统展示</a:t>
            </a:r>
            <a:r>
              <a:rPr lang="en-US" altLang="zh-CN" sz="2000" dirty="0">
                <a:solidFill>
                  <a:srgbClr val="93C5F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）</a:t>
            </a:r>
            <a:endParaRPr lang="en-US" altLang="zh-CN" sz="2000" dirty="0">
              <a:solidFill>
                <a:srgbClr val="93C5FD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4426"/>
          </a:xfrm>
          <a:prstGeom prst="rect">
            <a:avLst/>
          </a:prstGeom>
          <a:solidFill>
            <a:srgbClr val="1E3A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8549640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系统核心功能 (Codebuddy Pilot)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9145" y="796826"/>
            <a:ext cx="2933105" cy="756493"/>
          </a:xfrm>
          <a:prstGeom prst="roundRect">
            <a:avLst>
              <a:gd name="adj" fmla="val 8394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98195" y="796826"/>
            <a:ext cx="0" cy="756493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8746" y="898327"/>
            <a:ext cx="274584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🕒 在线填报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8746" y="1177677"/>
            <a:ext cx="2745843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自动化填写，提升效率，从源头解决数据质量问题。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297745" y="799366"/>
            <a:ext cx="2933105" cy="756493"/>
          </a:xfrm>
          <a:prstGeom prst="roundRect">
            <a:avLst>
              <a:gd name="adj" fmla="val 8394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16795" y="799366"/>
            <a:ext cx="0" cy="756493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37346" y="900867"/>
            <a:ext cx="274584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📊 自动统计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37346" y="1180217"/>
            <a:ext cx="2745843" cy="274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免去人工整理，自动汇总并生成报表，消除人工误差。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9145" y="1654820"/>
            <a:ext cx="2933105" cy="756493"/>
          </a:xfrm>
          <a:prstGeom prst="roundRect">
            <a:avLst>
              <a:gd name="adj" fmla="val 8394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98195" y="1654820"/>
            <a:ext cx="0" cy="756493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746" y="1756321"/>
            <a:ext cx="274584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💾 数据存储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8746" y="2035671"/>
            <a:ext cx="2745843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实时数据库存储，支持随时调取与历史追溯。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97745" y="1657360"/>
            <a:ext cx="2933105" cy="756493"/>
          </a:xfrm>
          <a:prstGeom prst="roundRect">
            <a:avLst>
              <a:gd name="adj" fmla="val 8394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316795" y="1657360"/>
            <a:ext cx="0" cy="756493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37346" y="1758861"/>
            <a:ext cx="274584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🛡️ 权限管理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37346" y="2038211"/>
            <a:ext cx="2745843" cy="274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分级管理（管理员/管理者/普通用户），保障数据安全。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9145" y="2512814"/>
            <a:ext cx="2933105" cy="619423"/>
          </a:xfrm>
          <a:prstGeom prst="roundRect">
            <a:avLst>
              <a:gd name="adj" fmla="val 10251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798195" y="2512814"/>
            <a:ext cx="0" cy="619423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746" y="2614315"/>
            <a:ext cx="274584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🤖 AI 助手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8746" y="2893665"/>
            <a:ext cx="2745843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接入混元大模型，智能化辅助填写（持续优化中）。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0" y="4759523"/>
            <a:ext cx="9144000" cy="383977"/>
          </a:xfrm>
          <a:prstGeom prst="rect">
            <a:avLst/>
          </a:prstGeom>
          <a:solidFill>
            <a:srgbClr val="ECFDF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23813" y="4759523"/>
            <a:ext cx="0" cy="383977"/>
          </a:xfrm>
          <a:prstGeom prst="line">
            <a:avLst/>
          </a:prstGeom>
          <a:noFill/>
          <a:ln w="47625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8625" y="4861024"/>
            <a:ext cx="8501063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6653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目前成效（自动统计模块）：统计耗时已降至 1</a:t>
            </a:r>
            <a:r>
              <a:rPr lang="zh-CN" altLang="en-US" sz="1000" dirty="0">
                <a:solidFill>
                  <a:srgbClr val="16653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人力</a:t>
            </a:r>
            <a:r>
              <a:rPr lang="en-US" sz="1000" dirty="0">
                <a:solidFill>
                  <a:srgbClr val="16653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0.5 天 (</a:t>
            </a:r>
            <a:r>
              <a:rPr lang="zh-CN" altLang="en-US" sz="1000" dirty="0">
                <a:solidFill>
                  <a:srgbClr val="16653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此前</a:t>
            </a:r>
            <a:r>
              <a:rPr lang="en-US" altLang="zh-CN" sz="1000" dirty="0">
                <a:solidFill>
                  <a:srgbClr val="16653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，</a:t>
            </a:r>
            <a:r>
              <a:rPr lang="en-US" sz="1000" dirty="0">
                <a:solidFill>
                  <a:srgbClr val="16653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1.5人力3-5</a:t>
            </a:r>
            <a:r>
              <a:rPr lang="zh-CN" altLang="en-US" sz="1000" dirty="0">
                <a:solidFill>
                  <a:srgbClr val="16653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天</a:t>
            </a:r>
            <a:r>
              <a:rPr lang="en-US" sz="1000" dirty="0">
                <a:solidFill>
                  <a:srgbClr val="16653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)。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606</Words>
  <Application>WPS 演示</Application>
  <PresentationFormat>On-screen Show (16:9)</PresentationFormat>
  <Paragraphs>96</Paragraphs>
  <Slides>4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1" baseType="lpstr">
      <vt:lpstr>Arial</vt:lpstr>
      <vt:lpstr>宋体</vt:lpstr>
      <vt:lpstr>Wingdings</vt:lpstr>
      <vt:lpstr>Arial</vt:lpstr>
      <vt:lpstr>Arial</vt:lpstr>
      <vt:lpstr>宋体</vt:lpstr>
      <vt:lpstr>汉仪书宋二KW</vt:lpstr>
      <vt:lpstr>Arial Italic</vt:lpstr>
      <vt:lpstr>Calibri</vt:lpstr>
      <vt:lpstr>Helvetica Neue</vt:lpstr>
      <vt:lpstr>微软雅黑</vt:lpstr>
      <vt:lpstr>汉仪旗黑</vt:lpstr>
      <vt:lpstr>Arial Unicode MS</vt:lpstr>
      <vt:lpstr>等线</vt:lpstr>
      <vt:lpstr>汉仪中等线KW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工作量化评估汇报</dc:title>
  <dc:creator>Codebuddy</dc:creator>
  <dc:subject>工时管理系统汇报</dc:subject>
  <cp:lastModifiedBy>Ivy.</cp:lastModifiedBy>
  <cp:revision>11</cp:revision>
  <dcterms:created xsi:type="dcterms:W3CDTF">2025-12-18T16:32:02Z</dcterms:created>
  <dcterms:modified xsi:type="dcterms:W3CDTF">2025-12-18T16:32:02Z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DE53BF432076AE6F429E4369A30CD2B1_43</vt:lpwstr>
  </property>
</Properties>
</file>
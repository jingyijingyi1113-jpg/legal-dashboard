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业管分开填</a:t>
            </a:r>
            <a:br>
              <a:rPr lang="zh-CN" altLang="en-US" dirty="0"/>
            </a:br>
            <a:br>
              <a:rPr lang="zh-CN" altLang="en-US" dirty="0"/>
            </a:br>
            <a:r>
              <a:rPr lang="en-US" altLang="zh-CN" dirty="0"/>
              <a:t>ctd</a:t>
            </a:r>
            <a:r>
              <a:rPr lang="zh-CN" altLang="en-US" dirty="0"/>
              <a:t>的节奏系统使用的</a:t>
            </a:r>
            <a:r>
              <a:rPr lang="zh-CN" altLang="en-US" dirty="0"/>
              <a:t>节奏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消保和</a:t>
            </a:r>
            <a:r>
              <a:rPr lang="en-US" altLang="zh-CN" dirty="0"/>
              <a:t>pa</a:t>
            </a:r>
            <a:r>
              <a:rPr lang="zh-CN" altLang="en-US" dirty="0"/>
              <a:t>的</a:t>
            </a:r>
            <a:r>
              <a:rPr lang="zh-CN" altLang="en-US" dirty="0"/>
              <a:t>节奏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周二</a:t>
            </a:r>
            <a:r>
              <a:rPr lang="zh-CN" altLang="en-US" dirty="0"/>
              <a:t>下午</a:t>
            </a:r>
            <a:r>
              <a:rPr lang="en-US" altLang="zh-CN" dirty="0"/>
              <a:t>：ian cooker linhan </a:t>
            </a:r>
            <a:r>
              <a:rPr lang="en-US" altLang="zh-CN" dirty="0"/>
              <a:t>chrissy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本周</a:t>
            </a:r>
            <a:r>
              <a:rPr lang="zh-CN" altLang="en-US" dirty="0"/>
              <a:t>业管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webp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4832" y="2143125"/>
            <a:ext cx="4974336" cy="857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工作量化评估汇报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4426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26950"/>
            <a:ext cx="867928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前期进展：PA &amp; 消保 / 合规交易部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771376"/>
            <a:ext cx="4159300" cy="352425"/>
          </a:xfrm>
          <a:prstGeom prst="roundRect">
            <a:avLst>
              <a:gd name="adj" fmla="val 1441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4401" y="847576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&amp; 消保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1225302"/>
            <a:ext cx="2028974" cy="3426321"/>
          </a:xfrm>
          <a:prstGeom prst="roundRect">
            <a:avLst>
              <a:gd name="adj" fmla="val 375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8951" y="1326803"/>
            <a:ext cx="1862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现状与执行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8951" y="1631603"/>
            <a:ext cx="1825972" cy="134034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工时记录：各团队以周为单位上传 Timesheet 至指定微盘。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工时分析（部门）：业管按月进行整体统计分析（架构调整后暂停汇报）。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工时分析（团队）：目前无团队自主进行工时统计分析。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价值评估：年初基于 OKR 开展过一次评估；上半年计算过两次 VOC。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47925" y="1225302"/>
            <a:ext cx="2028974" cy="3426321"/>
          </a:xfrm>
          <a:prstGeom prst="roundRect">
            <a:avLst>
              <a:gd name="adj" fmla="val 375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49426" y="1326803"/>
            <a:ext cx="1862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存在问题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49426" y="1631603"/>
            <a:ext cx="1825972" cy="120833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提交不及时：部分同事未能按时提交。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填写质量差：存在信息不完整、随意更改模版等现象。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缺乏复核：团队 Leader 未对数据进行确认。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备注：架构调整后，部分统计汇报工作已暂停。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67250" y="771376"/>
            <a:ext cx="4159300" cy="352425"/>
          </a:xfrm>
          <a:prstGeom prst="roundRect">
            <a:avLst>
              <a:gd name="adj" fmla="val 1441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94200" y="847576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合规交易部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7250" y="1225302"/>
            <a:ext cx="2028974" cy="3426321"/>
          </a:xfrm>
          <a:prstGeom prst="roundRect">
            <a:avLst>
              <a:gd name="adj" fmla="val 375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8751" y="1326803"/>
            <a:ext cx="1862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现状与执行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68751" y="1631603"/>
            <a:ext cx="1825972" cy="7108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工时记录：保持以周为单位上传 Timesheet 至指定微盘。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工时分析：业管月度协助统计，投并 &amp; Corporate 管理 Leader 按月 Review。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97725" y="1225302"/>
            <a:ext cx="2028974" cy="3426321"/>
          </a:xfrm>
          <a:prstGeom prst="roundRect">
            <a:avLst>
              <a:gd name="adj" fmla="val 375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99225" y="1326803"/>
            <a:ext cx="1862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存在问题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99225" y="1631603"/>
            <a:ext cx="1825972" cy="10255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提交不及时：部分人员未按时交付数据。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填写质量差：填写不规范、模版被随意修改。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管理差异：相比 PA 部门，增加了 Leader Review 环节，但基础数据质量问题依然存在。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0" y="4778573"/>
            <a:ext cx="9144000" cy="364927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3813" y="4778573"/>
            <a:ext cx="0" cy="364927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075" y="4880074"/>
            <a:ext cx="86307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现状：基础数据收集流程存在，数据质量有待提升以及后续工作执行方向和力度待确认。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当前机制运行痛点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982345"/>
            <a:ext cx="8550275" cy="1296035"/>
          </a:xfrm>
          <a:prstGeom prst="rect">
            <a:avLst/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4015" y="988695"/>
            <a:ext cx="0" cy="1289685"/>
          </a:xfrm>
          <a:prstGeom prst="line">
            <a:avLst/>
          </a:prstGeom>
          <a:noFill/>
          <a:ln w="762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1065312"/>
            <a:ext cx="7953958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🔴 痛点</a:t>
            </a:r>
            <a:endParaRPr lang="en-US" sz="1200" b="1" dirty="0">
              <a:solidFill>
                <a:srgbClr val="DC262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4840" y="1315720"/>
            <a:ext cx="3245485" cy="885825"/>
          </a:xfrm>
          <a:prstGeom prst="roundRect">
            <a:avLst>
              <a:gd name="adj" fmla="val 911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840" y="1339850"/>
            <a:ext cx="3245485" cy="635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101" y="1411774"/>
            <a:ext cx="356255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员工侧</a:t>
            </a:r>
            <a:endParaRPr lang="en-US" sz="1200" b="1" dirty="0">
              <a:solidFill>
                <a:srgbClr val="1E3A8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5340" y="1638300"/>
            <a:ext cx="263842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填写繁琐，上传流程复杂，用户体验差。</a:t>
            </a:r>
            <a:endParaRPr lang="en-US" sz="10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36695" y="1315720"/>
            <a:ext cx="4726305" cy="885825"/>
          </a:xfrm>
          <a:prstGeom prst="roundRect">
            <a:avLst>
              <a:gd name="adj" fmla="val 911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36695" y="1339850"/>
            <a:ext cx="4726305" cy="635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4091" y="1411774"/>
            <a:ext cx="356255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业管侧</a:t>
            </a:r>
            <a:endParaRPr lang="en-US" sz="1200" b="1" dirty="0">
              <a:solidFill>
                <a:srgbClr val="1E3A8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00525" y="1638300"/>
            <a:ext cx="4514850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数据处理流程极度耗时</a:t>
            </a:r>
            <a:r>
              <a:rPr lang="zh-CN" altLang="en-US" sz="1000" dirty="0">
                <a:solidFill>
                  <a:srgbClr val="475569"/>
                </a:solidFill>
                <a:latin typeface="Arial" panose="020B0604020202090204" pitchFamily="34" charset="0"/>
                <a:ea typeface="宋体" charset="0"/>
                <a:cs typeface="Arial" panose="020B0604020202090204" pitchFamily="34" charset="-120"/>
              </a:rPr>
              <a:t>，</a:t>
            </a:r>
            <a:r>
              <a:rPr lang="zh-CN" alt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每月需重复相同清洗步骤，纠错成本高：需人工反复核</a:t>
            </a:r>
            <a:endParaRPr lang="zh-CN" altLang="en-US" sz="10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indent="0" algn="l" fontAlgn="auto">
              <a:lnSpc>
                <a:spcPct val="140000"/>
              </a:lnSpc>
              <a:buNone/>
            </a:pPr>
            <a:r>
              <a:rPr lang="en-US" altLang="zh-CN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***</a:t>
            </a:r>
            <a:r>
              <a:rPr lang="zh-CN" alt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投入情况</a:t>
            </a:r>
            <a:r>
              <a:rPr 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：</a:t>
            </a:r>
            <a:r>
              <a:rPr lang="zh-CN" alt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业管侧</a:t>
            </a:r>
            <a:r>
              <a:rPr 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每月需投入 2.5 人力，耗时 3-5 天。</a:t>
            </a:r>
            <a:endParaRPr lang="en-US" sz="900" i="1" dirty="0">
              <a:solidFill>
                <a:srgbClr val="7F1D1D"/>
              </a:solidFill>
              <a:latin typeface="Arial Italic" panose="020B0604020202090204" charset="0"/>
              <a:ea typeface="Arial" panose="020B0604020202090204" pitchFamily="34" charset="-122"/>
              <a:cs typeface="Arial Italic" panose="020B0604020202090204" charset="0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12083" b="2707"/>
          <a:stretch>
            <a:fillRect/>
          </a:stretch>
        </p:blipFill>
        <p:spPr>
          <a:xfrm>
            <a:off x="1664335" y="3575050"/>
            <a:ext cx="1132840" cy="1250315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2"/>
          <a:srcRect l="21506" b="8701"/>
          <a:stretch>
            <a:fillRect/>
          </a:stretch>
        </p:blipFill>
        <p:spPr>
          <a:xfrm>
            <a:off x="147955" y="3575050"/>
            <a:ext cx="1516380" cy="124968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r="11093"/>
          <a:stretch>
            <a:fillRect/>
          </a:stretch>
        </p:blipFill>
        <p:spPr>
          <a:xfrm>
            <a:off x="2868930" y="3575050"/>
            <a:ext cx="1984375" cy="4038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295" y="4034155"/>
            <a:ext cx="1946910" cy="8572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rcRect t="23429" r="52805" b="416"/>
          <a:stretch>
            <a:fillRect/>
          </a:stretch>
        </p:blipFill>
        <p:spPr>
          <a:xfrm flipV="1">
            <a:off x="4898390" y="3583305"/>
            <a:ext cx="1450975" cy="117030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870" y="3583305"/>
            <a:ext cx="877570" cy="40386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080" y="3583305"/>
            <a:ext cx="845185" cy="124968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5270" y="3583305"/>
            <a:ext cx="832485" cy="1181735"/>
          </a:xfrm>
          <a:prstGeom prst="rect">
            <a:avLst/>
          </a:prstGeom>
        </p:spPr>
      </p:pic>
      <p:sp>
        <p:nvSpPr>
          <p:cNvPr id="28" name="五边形 27"/>
          <p:cNvSpPr/>
          <p:nvPr/>
        </p:nvSpPr>
        <p:spPr>
          <a:xfrm>
            <a:off x="135255" y="2686050"/>
            <a:ext cx="2657475" cy="29400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收集数据</a:t>
            </a:r>
            <a:r>
              <a:rPr lang="en-US" altLang="zh-CN" sz="1200"/>
              <a:t>（</a:t>
            </a:r>
            <a:r>
              <a:rPr lang="zh-CN" altLang="en-US" sz="1200"/>
              <a:t>完整性</a:t>
            </a:r>
            <a:r>
              <a:rPr lang="en-US" altLang="zh-CN" sz="1200"/>
              <a:t>）</a:t>
            </a:r>
            <a:endParaRPr lang="en-US" altLang="zh-CN" sz="1200"/>
          </a:p>
        </p:txBody>
      </p:sp>
      <p:sp>
        <p:nvSpPr>
          <p:cNvPr id="29" name="文本框 28"/>
          <p:cNvSpPr txBox="1"/>
          <p:nvPr/>
        </p:nvSpPr>
        <p:spPr>
          <a:xfrm>
            <a:off x="97155" y="3014345"/>
            <a:ext cx="2638425" cy="4235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检查三个中心60+同事是否完整上传工时，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通过</a:t>
            </a: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python预设程序+智能文档检查</a:t>
            </a:r>
            <a:endParaRPr 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0" name="燕尾形 29"/>
          <p:cNvSpPr/>
          <p:nvPr/>
        </p:nvSpPr>
        <p:spPr>
          <a:xfrm>
            <a:off x="2743835" y="2686050"/>
            <a:ext cx="3604895" cy="29400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数据清洗（准确性）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2822575" y="2982595"/>
            <a:ext cx="3502660" cy="4235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检查是否所有的必填字段是否完整；所有填写的字段是否都统一以及符合规范；人工修正不规范数据；剔除异常值</a:t>
            </a:r>
            <a:endParaRPr lang="zh-CN" alt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2" name="燕尾形 31"/>
          <p:cNvSpPr/>
          <p:nvPr/>
        </p:nvSpPr>
        <p:spPr>
          <a:xfrm>
            <a:off x="6311900" y="2686050"/>
            <a:ext cx="1563370" cy="29400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</a:t>
            </a:r>
            <a:r>
              <a:rPr lang="zh-CN" altLang="en-US" sz="1200"/>
              <a:t>统计</a:t>
            </a:r>
            <a:endParaRPr lang="zh-CN" altLang="en-US" sz="1200"/>
          </a:p>
        </p:txBody>
      </p:sp>
      <p:sp>
        <p:nvSpPr>
          <p:cNvPr id="37" name="文本框 36"/>
          <p:cNvSpPr txBox="1"/>
          <p:nvPr/>
        </p:nvSpPr>
        <p:spPr>
          <a:xfrm>
            <a:off x="6359525" y="2987040"/>
            <a:ext cx="1517015" cy="5892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日常维护</a:t>
            </a:r>
            <a:r>
              <a:rPr lang="en-US" altLang="zh-CN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张基础信息表</a:t>
            </a:r>
            <a:r>
              <a:rPr lang="en-US" altLang="zh-CN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+10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余张计算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分析表，需保持多表勾稽关系</a:t>
            </a:r>
            <a:endParaRPr lang="zh-CN" alt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8" name="燕尾形 37"/>
          <p:cNvSpPr/>
          <p:nvPr/>
        </p:nvSpPr>
        <p:spPr>
          <a:xfrm>
            <a:off x="7785100" y="2686050"/>
            <a:ext cx="1146175" cy="29400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</a:t>
            </a:r>
            <a:r>
              <a:rPr lang="zh-CN" altLang="en-US" sz="1200"/>
              <a:t>看板</a:t>
            </a:r>
            <a:endParaRPr lang="zh-CN" altLang="en-US" sz="1200"/>
          </a:p>
        </p:txBody>
      </p:sp>
      <p:sp>
        <p:nvSpPr>
          <p:cNvPr id="40" name="文本框 39"/>
          <p:cNvSpPr txBox="1"/>
          <p:nvPr/>
        </p:nvSpPr>
        <p:spPr>
          <a:xfrm>
            <a:off x="253365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底表拼接</a:t>
            </a:r>
            <a:endParaRPr lang="zh-CN" altLang="en-US" sz="800"/>
          </a:p>
        </p:txBody>
      </p:sp>
      <p:sp>
        <p:nvSpPr>
          <p:cNvPr id="41" name="文本框 40"/>
          <p:cNvSpPr txBox="1"/>
          <p:nvPr/>
        </p:nvSpPr>
        <p:spPr>
          <a:xfrm>
            <a:off x="1748790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检查工时</a:t>
            </a:r>
            <a:r>
              <a:rPr lang="zh-CN" altLang="en-US" sz="800"/>
              <a:t>上传情况</a:t>
            </a:r>
            <a:endParaRPr lang="zh-CN" altLang="en-US" sz="800"/>
          </a:p>
        </p:txBody>
      </p:sp>
      <p:sp>
        <p:nvSpPr>
          <p:cNvPr id="42" name="文本框 41"/>
          <p:cNvSpPr txBox="1"/>
          <p:nvPr/>
        </p:nvSpPr>
        <p:spPr>
          <a:xfrm>
            <a:off x="3157220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字段缺失</a:t>
            </a:r>
            <a:r>
              <a:rPr lang="en-US" altLang="zh-CN" sz="800"/>
              <a:t>、</a:t>
            </a:r>
            <a:r>
              <a:rPr lang="zh-CN" altLang="en-US" sz="800"/>
              <a:t>标签不</a:t>
            </a:r>
            <a:r>
              <a:rPr lang="zh-CN" altLang="en-US" sz="800"/>
              <a:t>统一</a:t>
            </a:r>
            <a:endParaRPr lang="zh-CN" altLang="en-US" sz="800"/>
          </a:p>
        </p:txBody>
      </p:sp>
      <p:sp>
        <p:nvSpPr>
          <p:cNvPr id="43" name="文本框 42"/>
          <p:cNvSpPr txBox="1"/>
          <p:nvPr/>
        </p:nvSpPr>
        <p:spPr>
          <a:xfrm>
            <a:off x="5091430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字段填写</a:t>
            </a:r>
            <a:r>
              <a:rPr lang="zh-CN" altLang="en-US" sz="800"/>
              <a:t>不符合规范</a:t>
            </a:r>
            <a:endParaRPr lang="zh-CN" altLang="en-US" sz="800"/>
          </a:p>
        </p:txBody>
      </p:sp>
      <p:sp>
        <p:nvSpPr>
          <p:cNvPr id="44" name="文本框 43"/>
          <p:cNvSpPr txBox="1"/>
          <p:nvPr/>
        </p:nvSpPr>
        <p:spPr>
          <a:xfrm>
            <a:off x="6588125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统计分析</a:t>
            </a:r>
            <a:r>
              <a:rPr lang="zh-CN" altLang="en-US" sz="800"/>
              <a:t>表格</a:t>
            </a:r>
            <a:endParaRPr lang="zh-CN" altLang="en-US" sz="800"/>
          </a:p>
        </p:txBody>
      </p:sp>
      <p:sp>
        <p:nvSpPr>
          <p:cNvPr id="45" name="文本框 44"/>
          <p:cNvSpPr txBox="1"/>
          <p:nvPr/>
        </p:nvSpPr>
        <p:spPr>
          <a:xfrm>
            <a:off x="7808595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数据源检查</a:t>
            </a:r>
            <a:endParaRPr lang="zh-CN" altLang="en-US" sz="800"/>
          </a:p>
        </p:txBody>
      </p:sp>
      <p:sp>
        <p:nvSpPr>
          <p:cNvPr id="39" name="文本框 38"/>
          <p:cNvSpPr txBox="1"/>
          <p:nvPr/>
        </p:nvSpPr>
        <p:spPr>
          <a:xfrm>
            <a:off x="7785100" y="3021330"/>
            <a:ext cx="1210310" cy="4235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核对</a:t>
            </a:r>
            <a:r>
              <a:rPr lang="en-US" altLang="zh-CN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25+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数据看板，数据源准确性</a:t>
            </a:r>
            <a:endParaRPr lang="zh-CN" alt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04850" y="2358390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流程一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854450" y="2358390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</a:t>
            </a:r>
            <a:r>
              <a:rPr lang="zh-CN" altLang="en-US" sz="1200"/>
              <a:t>二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88125" y="2361565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</a:t>
            </a:r>
            <a:r>
              <a:rPr lang="zh-CN" altLang="en-US" sz="1200"/>
              <a:t>三</a:t>
            </a:r>
            <a:endParaRPr lang="zh-CN" altLang="en-US" sz="1200"/>
          </a:p>
        </p:txBody>
      </p:sp>
      <p:sp>
        <p:nvSpPr>
          <p:cNvPr id="49" name="文本框 48"/>
          <p:cNvSpPr txBox="1"/>
          <p:nvPr/>
        </p:nvSpPr>
        <p:spPr>
          <a:xfrm>
            <a:off x="7835265" y="2364740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</a:t>
            </a:r>
            <a:r>
              <a:rPr lang="zh-CN" altLang="en-US" sz="1200"/>
              <a:t>四</a:t>
            </a:r>
            <a:endParaRPr lang="zh-CN" alt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762" y="1859012"/>
            <a:ext cx="3808476" cy="742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系统化解决方案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456148" y="2855863"/>
            <a:ext cx="4231556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3C5F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以 CTD 为试点系统化能力探索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4426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系统核心功能 (Codebuddy Pilot)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9145" y="796826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8195" y="796826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8746" y="898327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🕒 在线填报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8746" y="1177677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自动化填写，提升效率，从源头解决数据质量问题。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97745" y="799366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6795" y="799366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37346" y="900867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📊 自动统计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37346" y="1180217"/>
            <a:ext cx="2745843" cy="27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免去人工整理，自动汇总并生成报表，消除人工误差。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9145" y="1654820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98195" y="1654820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746" y="1756321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💾 数据存储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8746" y="2035671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实时数据库存储，支持随时调取与历史追溯。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97745" y="1657360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16795" y="1657360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7346" y="1758861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🛡️ 权限管理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7346" y="2038211"/>
            <a:ext cx="2745843" cy="27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分级管理（管理员/管理者/普通用户），保障数据安全。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9145" y="2512814"/>
            <a:ext cx="2933105" cy="619423"/>
          </a:xfrm>
          <a:prstGeom prst="roundRect">
            <a:avLst>
              <a:gd name="adj" fmla="val 10251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98195" y="2512814"/>
            <a:ext cx="0" cy="61942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746" y="2614315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🤖 AI 助手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746" y="2893665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接入混元大模型，智能化辅助填写（持续优化中）。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4759523"/>
            <a:ext cx="9144000" cy="383977"/>
          </a:xfrm>
          <a:prstGeom prst="rect">
            <a:avLst/>
          </a:prstGeom>
          <a:solidFill>
            <a:srgbClr val="ECFD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3813" y="4759523"/>
            <a:ext cx="0" cy="383977"/>
          </a:xfrm>
          <a:prstGeom prst="line">
            <a:avLst/>
          </a:prstGeom>
          <a:noFill/>
          <a:ln w="47625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8625" y="4861024"/>
            <a:ext cx="850106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目前成效（自动统计模块）：统计耗时已降至 1</a:t>
            </a:r>
            <a:r>
              <a:rPr lang="zh-CN" alt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人力</a:t>
            </a: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0.5 天 (</a:t>
            </a:r>
            <a:r>
              <a:rPr lang="zh-CN" alt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此前</a:t>
            </a:r>
            <a:r>
              <a:rPr lang="en-US" altLang="zh-CN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，</a:t>
            </a: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1人力3-5</a:t>
            </a:r>
            <a:r>
              <a:rPr lang="zh-CN" alt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天</a:t>
            </a: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)。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1039</Words>
  <Application>WPS 演示</Application>
  <PresentationFormat>On-screen Show (16:9)</PresentationFormat>
  <Paragraphs>110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Arial Italic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工作量化评估汇报</dc:title>
  <dc:creator>Codebuddy</dc:creator>
  <dc:subject>工时管理系统汇报</dc:subject>
  <cp:lastModifiedBy>Ivy.</cp:lastModifiedBy>
  <cp:revision>8</cp:revision>
  <dcterms:created xsi:type="dcterms:W3CDTF">2025-12-15T17:13:05Z</dcterms:created>
  <dcterms:modified xsi:type="dcterms:W3CDTF">2025-12-15T17:13:05Z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D9459945840CA66D922840695FFFF418_43</vt:lpwstr>
  </property>
</Properties>
</file>